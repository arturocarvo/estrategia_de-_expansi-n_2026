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aleway"/>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6.xml"/><Relationship Id="rId22" Type="http://schemas.openxmlformats.org/officeDocument/2006/relationships/font" Target="fonts/Lato-boldItalic.fntdata"/><Relationship Id="rId10" Type="http://schemas.openxmlformats.org/officeDocument/2006/relationships/slide" Target="slides/slide5.xml"/><Relationship Id="rId21"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regular.fntdata"/><Relationship Id="rId14" Type="http://schemas.openxmlformats.org/officeDocument/2006/relationships/slide" Target="slides/slide9.xml"/><Relationship Id="rId17" Type="http://schemas.openxmlformats.org/officeDocument/2006/relationships/font" Target="fonts/Raleway-italic.fntdata"/><Relationship Id="rId16" Type="http://schemas.openxmlformats.org/officeDocument/2006/relationships/font" Target="fonts/Raleway-bold.fntdata"/><Relationship Id="rId5" Type="http://schemas.openxmlformats.org/officeDocument/2006/relationships/notesMaster" Target="notesMasters/notesMaster1.xml"/><Relationship Id="rId19" Type="http://schemas.openxmlformats.org/officeDocument/2006/relationships/font" Target="fonts/Lato-regular.fntdata"/><Relationship Id="rId6" Type="http://schemas.openxmlformats.org/officeDocument/2006/relationships/slide" Target="slides/slide1.xml"/><Relationship Id="rId18" Type="http://schemas.openxmlformats.org/officeDocument/2006/relationships/font" Target="fonts/Raleway-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b9a0b0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b9a0b0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d5b15f0a3_5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d5b15f0a3_5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cb9a0b074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cb9a0b074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723630543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72363054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e965474a9_3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e965474a9_3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723630543_1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723630543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cb9a0b074_1_1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cb9a0b074_1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723630543_5_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723630543_5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e965474a9_3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e965474a9_3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4800"/>
              <a:buNone/>
              <a:defRPr sz="4800">
                <a:solidFill>
                  <a:schemeClr val="lt1"/>
                </a:solidFill>
              </a:defRPr>
            </a:lvl2pPr>
            <a:lvl3pPr lvl="2" rtl="0" algn="ctr">
              <a:spcBef>
                <a:spcPts val="0"/>
              </a:spcBef>
              <a:spcAft>
                <a:spcPts val="0"/>
              </a:spcAft>
              <a:buClr>
                <a:schemeClr val="lt1"/>
              </a:buClr>
              <a:buSzPts val="4800"/>
              <a:buNone/>
              <a:defRPr sz="4800">
                <a:solidFill>
                  <a:schemeClr val="lt1"/>
                </a:solidFill>
              </a:defRPr>
            </a:lvl3pPr>
            <a:lvl4pPr lvl="3" rtl="0" algn="ctr">
              <a:spcBef>
                <a:spcPts val="0"/>
              </a:spcBef>
              <a:spcAft>
                <a:spcPts val="0"/>
              </a:spcAft>
              <a:buClr>
                <a:schemeClr val="lt1"/>
              </a:buClr>
              <a:buSzPts val="4800"/>
              <a:buNone/>
              <a:defRPr sz="4800">
                <a:solidFill>
                  <a:schemeClr val="lt1"/>
                </a:solidFill>
              </a:defRPr>
            </a:lvl4pPr>
            <a:lvl5pPr lvl="4" rtl="0" algn="ctr">
              <a:spcBef>
                <a:spcPts val="0"/>
              </a:spcBef>
              <a:spcAft>
                <a:spcPts val="0"/>
              </a:spcAft>
              <a:buClr>
                <a:schemeClr val="lt1"/>
              </a:buClr>
              <a:buSzPts val="4800"/>
              <a:buNone/>
              <a:defRPr sz="4800">
                <a:solidFill>
                  <a:schemeClr val="lt1"/>
                </a:solidFill>
              </a:defRPr>
            </a:lvl5pPr>
            <a:lvl6pPr lvl="5" rtl="0" algn="ctr">
              <a:spcBef>
                <a:spcPts val="0"/>
              </a:spcBef>
              <a:spcAft>
                <a:spcPts val="0"/>
              </a:spcAft>
              <a:buClr>
                <a:schemeClr val="lt1"/>
              </a:buClr>
              <a:buSzPts val="4800"/>
              <a:buNone/>
              <a:defRPr sz="4800">
                <a:solidFill>
                  <a:schemeClr val="lt1"/>
                </a:solidFill>
              </a:defRPr>
            </a:lvl6pPr>
            <a:lvl7pPr lvl="6" rtl="0" algn="ctr">
              <a:spcBef>
                <a:spcPts val="0"/>
              </a:spcBef>
              <a:spcAft>
                <a:spcPts val="0"/>
              </a:spcAft>
              <a:buClr>
                <a:schemeClr val="lt1"/>
              </a:buClr>
              <a:buSzPts val="4800"/>
              <a:buNone/>
              <a:defRPr sz="4800">
                <a:solidFill>
                  <a:schemeClr val="lt1"/>
                </a:solidFill>
              </a:defRPr>
            </a:lvl7pPr>
            <a:lvl8pPr lvl="7" rtl="0" algn="ctr">
              <a:spcBef>
                <a:spcPts val="0"/>
              </a:spcBef>
              <a:spcAft>
                <a:spcPts val="0"/>
              </a:spcAft>
              <a:buClr>
                <a:schemeClr val="lt1"/>
              </a:buClr>
              <a:buSzPts val="4800"/>
              <a:buNone/>
              <a:defRPr sz="4800">
                <a:solidFill>
                  <a:schemeClr val="lt1"/>
                </a:solidFill>
              </a:defRPr>
            </a:lvl8pPr>
            <a:lvl9pPr lvl="8" rtl="0"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353535"/>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3600"/>
              <a:buNone/>
              <a:defRPr sz="3600">
                <a:solidFill>
                  <a:schemeClr val="dk1"/>
                </a:solidFill>
              </a:defRPr>
            </a:lvl1pPr>
            <a:lvl2pPr lvl="1" rtl="0" algn="ctr">
              <a:spcBef>
                <a:spcPts val="0"/>
              </a:spcBef>
              <a:spcAft>
                <a:spcPts val="0"/>
              </a:spcAft>
              <a:buClr>
                <a:schemeClr val="dk1"/>
              </a:buClr>
              <a:buSzPts val="3600"/>
              <a:buNone/>
              <a:defRPr sz="3600">
                <a:solidFill>
                  <a:schemeClr val="dk1"/>
                </a:solidFill>
              </a:defRPr>
            </a:lvl2pPr>
            <a:lvl3pPr lvl="2" rtl="0" algn="ctr">
              <a:spcBef>
                <a:spcPts val="0"/>
              </a:spcBef>
              <a:spcAft>
                <a:spcPts val="0"/>
              </a:spcAft>
              <a:buClr>
                <a:schemeClr val="dk1"/>
              </a:buClr>
              <a:buSzPts val="3600"/>
              <a:buNone/>
              <a:defRPr sz="3600">
                <a:solidFill>
                  <a:schemeClr val="dk1"/>
                </a:solidFill>
              </a:defRPr>
            </a:lvl3pPr>
            <a:lvl4pPr lvl="3" rtl="0" algn="ctr">
              <a:spcBef>
                <a:spcPts val="0"/>
              </a:spcBef>
              <a:spcAft>
                <a:spcPts val="0"/>
              </a:spcAft>
              <a:buClr>
                <a:schemeClr val="dk1"/>
              </a:buClr>
              <a:buSzPts val="3600"/>
              <a:buNone/>
              <a:defRPr sz="3600">
                <a:solidFill>
                  <a:schemeClr val="dk1"/>
                </a:solidFill>
              </a:defRPr>
            </a:lvl4pPr>
            <a:lvl5pPr lvl="4" rtl="0" algn="ctr">
              <a:spcBef>
                <a:spcPts val="0"/>
              </a:spcBef>
              <a:spcAft>
                <a:spcPts val="0"/>
              </a:spcAft>
              <a:buClr>
                <a:schemeClr val="dk1"/>
              </a:buClr>
              <a:buSzPts val="3600"/>
              <a:buNone/>
              <a:defRPr sz="3600">
                <a:solidFill>
                  <a:schemeClr val="dk1"/>
                </a:solidFill>
              </a:defRPr>
            </a:lvl5pPr>
            <a:lvl6pPr lvl="5" rtl="0" algn="ctr">
              <a:spcBef>
                <a:spcPts val="0"/>
              </a:spcBef>
              <a:spcAft>
                <a:spcPts val="0"/>
              </a:spcAft>
              <a:buClr>
                <a:schemeClr val="dk1"/>
              </a:buClr>
              <a:buSzPts val="3600"/>
              <a:buNone/>
              <a:defRPr sz="3600">
                <a:solidFill>
                  <a:schemeClr val="dk1"/>
                </a:solidFill>
              </a:defRPr>
            </a:lvl6pPr>
            <a:lvl7pPr lvl="6" rtl="0" algn="ctr">
              <a:spcBef>
                <a:spcPts val="0"/>
              </a:spcBef>
              <a:spcAft>
                <a:spcPts val="0"/>
              </a:spcAft>
              <a:buClr>
                <a:schemeClr val="dk1"/>
              </a:buClr>
              <a:buSzPts val="3600"/>
              <a:buNone/>
              <a:defRPr sz="3600">
                <a:solidFill>
                  <a:schemeClr val="dk1"/>
                </a:solidFill>
              </a:defRPr>
            </a:lvl7pPr>
            <a:lvl8pPr lvl="7" rtl="0" algn="ctr">
              <a:spcBef>
                <a:spcPts val="0"/>
              </a:spcBef>
              <a:spcAft>
                <a:spcPts val="0"/>
              </a:spcAft>
              <a:buClr>
                <a:schemeClr val="dk1"/>
              </a:buClr>
              <a:buSzPts val="3600"/>
              <a:buNone/>
              <a:defRPr sz="3600">
                <a:solidFill>
                  <a:schemeClr val="dk1"/>
                </a:solidFill>
              </a:defRPr>
            </a:lvl8pPr>
            <a:lvl9pPr lvl="8" rtl="0"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rtl="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Lato"/>
                <a:ea typeface="Lato"/>
                <a:cs typeface="Lato"/>
                <a:sym typeface="Lato"/>
              </a:defRPr>
            </a:lvl1pPr>
            <a:lvl2pPr lvl="1" rtl="0" algn="r">
              <a:buNone/>
              <a:defRPr sz="1000">
                <a:solidFill>
                  <a:schemeClr val="dk2"/>
                </a:solidFill>
                <a:latin typeface="Lato"/>
                <a:ea typeface="Lato"/>
                <a:cs typeface="Lato"/>
                <a:sym typeface="Lato"/>
              </a:defRPr>
            </a:lvl2pPr>
            <a:lvl3pPr lvl="2" rtl="0" algn="r">
              <a:buNone/>
              <a:defRPr sz="1000">
                <a:solidFill>
                  <a:schemeClr val="dk2"/>
                </a:solidFill>
                <a:latin typeface="Lato"/>
                <a:ea typeface="Lato"/>
                <a:cs typeface="Lato"/>
                <a:sym typeface="Lato"/>
              </a:defRPr>
            </a:lvl3pPr>
            <a:lvl4pPr lvl="3" rtl="0" algn="r">
              <a:buNone/>
              <a:defRPr sz="1000">
                <a:solidFill>
                  <a:schemeClr val="dk2"/>
                </a:solidFill>
                <a:latin typeface="Lato"/>
                <a:ea typeface="Lato"/>
                <a:cs typeface="Lato"/>
                <a:sym typeface="Lato"/>
              </a:defRPr>
            </a:lvl4pPr>
            <a:lvl5pPr lvl="4" rtl="0" algn="r">
              <a:buNone/>
              <a:defRPr sz="1000">
                <a:solidFill>
                  <a:schemeClr val="dk2"/>
                </a:solidFill>
                <a:latin typeface="Lato"/>
                <a:ea typeface="Lato"/>
                <a:cs typeface="Lato"/>
                <a:sym typeface="Lato"/>
              </a:defRPr>
            </a:lvl5pPr>
            <a:lvl6pPr lvl="5" rtl="0" algn="r">
              <a:buNone/>
              <a:defRPr sz="1000">
                <a:solidFill>
                  <a:schemeClr val="dk2"/>
                </a:solidFill>
                <a:latin typeface="Lato"/>
                <a:ea typeface="Lato"/>
                <a:cs typeface="Lato"/>
                <a:sym typeface="Lato"/>
              </a:defRPr>
            </a:lvl6pPr>
            <a:lvl7pPr lvl="6" rtl="0" algn="r">
              <a:buNone/>
              <a:defRPr sz="1000">
                <a:solidFill>
                  <a:schemeClr val="dk2"/>
                </a:solidFill>
                <a:latin typeface="Lato"/>
                <a:ea typeface="Lato"/>
                <a:cs typeface="Lato"/>
                <a:sym typeface="Lato"/>
              </a:defRPr>
            </a:lvl7pPr>
            <a:lvl8pPr lvl="7" rtl="0" algn="r">
              <a:buNone/>
              <a:defRPr sz="1000">
                <a:solidFill>
                  <a:schemeClr val="dk2"/>
                </a:solidFill>
                <a:latin typeface="Lato"/>
                <a:ea typeface="Lato"/>
                <a:cs typeface="Lato"/>
                <a:sym typeface="Lato"/>
              </a:defRPr>
            </a:lvl8pPr>
            <a:lvl9pPr lvl="8" rtl="0"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5.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3"/>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s-419"/>
              <a:t>Estrategia de Expansión 2026  </a:t>
            </a:r>
            <a:br>
              <a:rPr lang="es-419"/>
            </a:br>
            <a:endParaRPr/>
          </a:p>
        </p:txBody>
      </p:sp>
      <p:sp>
        <p:nvSpPr>
          <p:cNvPr id="73" name="Google Shape;73;p13"/>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s-419" sz="2400"/>
              <a:t>Dónde y por qué abrir nuestro primer local físico</a:t>
            </a:r>
            <a:endParaRPr b="1"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s-419" sz="3600">
                <a:solidFill>
                  <a:schemeClr val="dk1"/>
                </a:solidFill>
              </a:rPr>
              <a:t>El Problema y el Objetivo</a:t>
            </a:r>
            <a:endParaRPr sz="2400"/>
          </a:p>
        </p:txBody>
      </p:sp>
      <p:sp>
        <p:nvSpPr>
          <p:cNvPr id="79" name="Google Shape;79;p14"/>
          <p:cNvSpPr txBox="1"/>
          <p:nvPr>
            <p:ph idx="4294967295" type="title"/>
          </p:nvPr>
        </p:nvSpPr>
        <p:spPr>
          <a:xfrm>
            <a:off x="535775" y="2207650"/>
            <a:ext cx="5197200" cy="2929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Font typeface="Arial"/>
              <a:buNone/>
            </a:pPr>
            <a:r>
              <a:rPr lang="es-419" sz="1800">
                <a:latin typeface="Arial"/>
                <a:ea typeface="Arial"/>
                <a:cs typeface="Arial"/>
                <a:sym typeface="Arial"/>
              </a:rPr>
              <a:t>El Problema:</a:t>
            </a:r>
            <a:r>
              <a:rPr b="0" lang="es-419" sz="1800">
                <a:latin typeface="Arial"/>
                <a:ea typeface="Arial"/>
                <a:cs typeface="Arial"/>
                <a:sym typeface="Arial"/>
              </a:rPr>
              <a:t> El costo de envío desde el depósito central está comiendo el margen de ganancia.</a:t>
            </a:r>
            <a:endParaRPr b="0" sz="1800">
              <a:latin typeface="Arial"/>
              <a:ea typeface="Arial"/>
              <a:cs typeface="Arial"/>
              <a:sym typeface="Arial"/>
            </a:endParaRPr>
          </a:p>
          <a:p>
            <a:pPr indent="0" lvl="0" marL="0" rtl="0" algn="l">
              <a:lnSpc>
                <a:spcPct val="115000"/>
              </a:lnSpc>
              <a:spcBef>
                <a:spcPts val="1600"/>
              </a:spcBef>
              <a:spcAft>
                <a:spcPts val="0"/>
              </a:spcAft>
              <a:buClr>
                <a:schemeClr val="dk2"/>
              </a:buClr>
              <a:buSzPts val="1100"/>
              <a:buFont typeface="Arial"/>
              <a:buNone/>
            </a:pPr>
            <a:r>
              <a:rPr lang="es-419" sz="1800">
                <a:latin typeface="Arial"/>
                <a:ea typeface="Arial"/>
                <a:cs typeface="Arial"/>
                <a:sym typeface="Arial"/>
              </a:rPr>
              <a:t>El Objetivo:</a:t>
            </a:r>
            <a:r>
              <a:rPr b="0" lang="es-419" sz="1800">
                <a:latin typeface="Arial"/>
                <a:ea typeface="Arial"/>
                <a:cs typeface="Arial"/>
                <a:sym typeface="Arial"/>
              </a:rPr>
              <a:t> Identificar el barrio donde la gente ya nos compra mucho y gasta más dinero, para poner el local ahí</a:t>
            </a:r>
            <a:endParaRPr b="0" sz="1800">
              <a:latin typeface="Arial"/>
              <a:ea typeface="Arial"/>
              <a:cs typeface="Arial"/>
              <a:sym typeface="Arial"/>
            </a:endParaRPr>
          </a:p>
          <a:p>
            <a:pPr indent="0" lvl="0" marL="0" rtl="0" algn="l">
              <a:lnSpc>
                <a:spcPct val="115000"/>
              </a:lnSpc>
              <a:spcBef>
                <a:spcPts val="1600"/>
              </a:spcBef>
              <a:spcAft>
                <a:spcPts val="1600"/>
              </a:spcAft>
              <a:buClr>
                <a:schemeClr val="dk2"/>
              </a:buClr>
              <a:buSzPts val="1100"/>
              <a:buFont typeface="Arial"/>
              <a:buNone/>
            </a:pPr>
            <a:r>
              <a:t/>
            </a:r>
            <a:endParaRPr b="0" sz="1800">
              <a:latin typeface="Lato"/>
              <a:ea typeface="Lato"/>
              <a:cs typeface="Lato"/>
              <a:sym typeface="Lato"/>
            </a:endParaRPr>
          </a:p>
        </p:txBody>
      </p:sp>
      <p:pic>
        <p:nvPicPr>
          <p:cNvPr descr="Store Location Icon / Shop Location (proporcionada por Getty Images)" id="80" name="Google Shape;80;p14"/>
          <p:cNvPicPr preferRelativeResize="0"/>
          <p:nvPr/>
        </p:nvPicPr>
        <p:blipFill rotWithShape="1">
          <a:blip r:embed="rId3">
            <a:alphaModFix/>
          </a:blip>
          <a:srcRect b="0" l="11681" r="11673" t="0"/>
          <a:stretch/>
        </p:blipFill>
        <p:spPr>
          <a:xfrm>
            <a:off x="7343776" y="2804500"/>
            <a:ext cx="1572275" cy="205134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4" name="Shape 84"/>
        <p:cNvGrpSpPr/>
        <p:nvPr/>
      </p:nvGrpSpPr>
      <p:grpSpPr>
        <a:xfrm>
          <a:off x="0" y="0"/>
          <a:ext cx="0" cy="0"/>
          <a:chOff x="0" y="0"/>
          <a:chExt cx="0" cy="0"/>
        </a:xfrm>
      </p:grpSpPr>
      <p:pic>
        <p:nvPicPr>
          <p:cNvPr id="85" name="Google Shape;85;p15"/>
          <p:cNvPicPr preferRelativeResize="0"/>
          <p:nvPr/>
        </p:nvPicPr>
        <p:blipFill>
          <a:blip r:embed="rId3">
            <a:alphaModFix/>
          </a:blip>
          <a:stretch>
            <a:fillRect/>
          </a:stretch>
        </p:blipFill>
        <p:spPr>
          <a:xfrm>
            <a:off x="2444700" y="162737"/>
            <a:ext cx="4254600" cy="4818038"/>
          </a:xfrm>
          <a:prstGeom prst="rect">
            <a:avLst/>
          </a:prstGeom>
          <a:noFill/>
          <a:ln>
            <a:noFill/>
          </a:ln>
        </p:spPr>
      </p:pic>
      <p:sp>
        <p:nvSpPr>
          <p:cNvPr id="86" name="Google Shape;86;p15"/>
          <p:cNvSpPr txBox="1"/>
          <p:nvPr/>
        </p:nvSpPr>
        <p:spPr>
          <a:xfrm>
            <a:off x="2855550" y="687397"/>
            <a:ext cx="34329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s-419" sz="3000">
                <a:solidFill>
                  <a:schemeClr val="lt2"/>
                </a:solidFill>
                <a:latin typeface="Raleway"/>
                <a:ea typeface="Raleway"/>
                <a:cs typeface="Raleway"/>
                <a:sym typeface="Raleway"/>
              </a:rPr>
              <a:t>  </a:t>
            </a:r>
            <a:r>
              <a:rPr b="1" lang="es-419" sz="2200">
                <a:solidFill>
                  <a:schemeClr val="lt2"/>
                </a:solidFill>
                <a:latin typeface="Raleway"/>
                <a:ea typeface="Raleway"/>
                <a:cs typeface="Raleway"/>
                <a:sym typeface="Raleway"/>
              </a:rPr>
              <a:t>¿Qué datos usamos?</a:t>
            </a:r>
            <a:endParaRPr b="1" sz="1900">
              <a:solidFill>
                <a:schemeClr val="lt2"/>
              </a:solidFill>
              <a:latin typeface="Raleway"/>
              <a:ea typeface="Raleway"/>
              <a:cs typeface="Raleway"/>
              <a:sym typeface="Raleway"/>
            </a:endParaRPr>
          </a:p>
        </p:txBody>
      </p:sp>
      <p:sp>
        <p:nvSpPr>
          <p:cNvPr id="87" name="Google Shape;87;p15"/>
          <p:cNvSpPr txBox="1"/>
          <p:nvPr>
            <p:ph idx="4294967295" type="body"/>
          </p:nvPr>
        </p:nvSpPr>
        <p:spPr>
          <a:xfrm>
            <a:off x="2855550" y="1377480"/>
            <a:ext cx="34329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t/>
            </a:r>
            <a:endParaRPr sz="1200">
              <a:latin typeface="Raleway"/>
              <a:ea typeface="Raleway"/>
              <a:cs typeface="Raleway"/>
              <a:sym typeface="Raleway"/>
            </a:endParaRPr>
          </a:p>
          <a:p>
            <a:pPr indent="-317500" lvl="0" marL="457200" rtl="0" algn="l">
              <a:spcBef>
                <a:spcPts val="1600"/>
              </a:spcBef>
              <a:spcAft>
                <a:spcPts val="0"/>
              </a:spcAft>
              <a:buClr>
                <a:schemeClr val="dk1"/>
              </a:buClr>
              <a:buSzPts val="1400"/>
              <a:buFont typeface="Raleway"/>
              <a:buChar char="➔"/>
            </a:pPr>
            <a:r>
              <a:rPr b="1" lang="es-419" sz="1400">
                <a:solidFill>
                  <a:schemeClr val="dk1"/>
                </a:solidFill>
                <a:latin typeface="Raleway"/>
                <a:ea typeface="Raleway"/>
                <a:cs typeface="Raleway"/>
                <a:sym typeface="Raleway"/>
              </a:rPr>
              <a:t>Ventas:</a:t>
            </a:r>
            <a:br>
              <a:rPr lang="es-419" sz="1200">
                <a:latin typeface="Raleway"/>
                <a:ea typeface="Raleway"/>
                <a:cs typeface="Raleway"/>
                <a:sym typeface="Raleway"/>
              </a:rPr>
            </a:br>
            <a:r>
              <a:rPr lang="es-419" sz="1200">
                <a:latin typeface="Raleway"/>
                <a:ea typeface="Raleway"/>
                <a:cs typeface="Raleway"/>
                <a:sym typeface="Raleway"/>
              </a:rPr>
              <a:t>Analizamos 2.200 pedidos del último año</a:t>
            </a:r>
            <a:endParaRPr sz="1200">
              <a:latin typeface="Raleway"/>
              <a:ea typeface="Raleway"/>
              <a:cs typeface="Raleway"/>
              <a:sym typeface="Raleway"/>
            </a:endParaRPr>
          </a:p>
          <a:p>
            <a:pPr indent="-317500" lvl="0" marL="457200" rtl="0" algn="l">
              <a:spcBef>
                <a:spcPts val="1000"/>
              </a:spcBef>
              <a:spcAft>
                <a:spcPts val="1000"/>
              </a:spcAft>
              <a:buClr>
                <a:schemeClr val="dk1"/>
              </a:buClr>
              <a:buSzPts val="1400"/>
              <a:buFont typeface="Raleway"/>
              <a:buChar char="➔"/>
            </a:pPr>
            <a:r>
              <a:rPr b="1" lang="es-419" sz="1400">
                <a:solidFill>
                  <a:schemeClr val="dk1"/>
                </a:solidFill>
                <a:latin typeface="Raleway"/>
                <a:ea typeface="Raleway"/>
                <a:cs typeface="Raleway"/>
                <a:sym typeface="Raleway"/>
              </a:rPr>
              <a:t>Datos Externos:</a:t>
            </a:r>
            <a:br>
              <a:rPr lang="es-419" sz="1400">
                <a:latin typeface="Raleway"/>
                <a:ea typeface="Raleway"/>
                <a:cs typeface="Raleway"/>
                <a:sym typeface="Raleway"/>
              </a:rPr>
            </a:br>
            <a:r>
              <a:rPr lang="es-419" sz="1200">
                <a:latin typeface="Raleway"/>
                <a:ea typeface="Raleway"/>
                <a:cs typeface="Raleway"/>
                <a:sym typeface="Raleway"/>
              </a:rPr>
              <a:t>Integramos el clima de Buenos Aires para entender cuándo la gente deja de ir al local y prefiere que le mandemos el producto</a:t>
            </a:r>
            <a:endParaRPr sz="1200">
              <a:latin typeface="Raleway"/>
              <a:ea typeface="Raleway"/>
              <a:cs typeface="Raleway"/>
              <a:sym typeface="Ralewa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1" name="Shape 91"/>
        <p:cNvGrpSpPr/>
        <p:nvPr/>
      </p:nvGrpSpPr>
      <p:grpSpPr>
        <a:xfrm>
          <a:off x="0" y="0"/>
          <a:ext cx="0" cy="0"/>
          <a:chOff x="0" y="0"/>
          <a:chExt cx="0" cy="0"/>
        </a:xfrm>
      </p:grpSpPr>
      <p:pic>
        <p:nvPicPr>
          <p:cNvPr id="92" name="Google Shape;92;p16"/>
          <p:cNvPicPr preferRelativeResize="0"/>
          <p:nvPr/>
        </p:nvPicPr>
        <p:blipFill>
          <a:blip r:embed="rId3">
            <a:alphaModFix/>
          </a:blip>
          <a:stretch>
            <a:fillRect/>
          </a:stretch>
        </p:blipFill>
        <p:spPr>
          <a:xfrm>
            <a:off x="2444700" y="162737"/>
            <a:ext cx="4254600" cy="4818038"/>
          </a:xfrm>
          <a:prstGeom prst="rect">
            <a:avLst/>
          </a:prstGeom>
          <a:noFill/>
          <a:ln>
            <a:noFill/>
          </a:ln>
        </p:spPr>
      </p:pic>
      <p:sp>
        <p:nvSpPr>
          <p:cNvPr id="93" name="Google Shape;93;p16"/>
          <p:cNvSpPr txBox="1"/>
          <p:nvPr/>
        </p:nvSpPr>
        <p:spPr>
          <a:xfrm>
            <a:off x="2855550" y="687397"/>
            <a:ext cx="34329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es-419" sz="2400">
                <a:solidFill>
                  <a:schemeClr val="lt2"/>
                </a:solidFill>
                <a:latin typeface="Raleway"/>
                <a:ea typeface="Raleway"/>
                <a:cs typeface="Raleway"/>
                <a:sym typeface="Raleway"/>
              </a:rPr>
              <a:t>Las 3 preguntas clave</a:t>
            </a:r>
            <a:endParaRPr b="1" sz="2400">
              <a:solidFill>
                <a:schemeClr val="lt2"/>
              </a:solidFill>
              <a:latin typeface="Raleway"/>
              <a:ea typeface="Raleway"/>
              <a:cs typeface="Raleway"/>
              <a:sym typeface="Raleway"/>
            </a:endParaRPr>
          </a:p>
        </p:txBody>
      </p:sp>
      <p:sp>
        <p:nvSpPr>
          <p:cNvPr id="94" name="Google Shape;94;p16"/>
          <p:cNvSpPr txBox="1"/>
          <p:nvPr>
            <p:ph idx="4294967295" type="body"/>
          </p:nvPr>
        </p:nvSpPr>
        <p:spPr>
          <a:xfrm>
            <a:off x="2855550" y="1377480"/>
            <a:ext cx="3432900" cy="33279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Raleway"/>
              <a:buChar char="➔"/>
            </a:pPr>
            <a:r>
              <a:rPr b="1" lang="es-419" sz="1400">
                <a:solidFill>
                  <a:schemeClr val="dk1"/>
                </a:solidFill>
                <a:latin typeface="Raleway"/>
                <a:ea typeface="Raleway"/>
                <a:cs typeface="Raleway"/>
                <a:sym typeface="Raleway"/>
              </a:rPr>
              <a:t>¿En qué barrio tenemos más clientes?</a:t>
            </a:r>
            <a:endParaRPr b="1" sz="1400">
              <a:solidFill>
                <a:schemeClr val="dk1"/>
              </a:solidFill>
              <a:latin typeface="Raleway"/>
              <a:ea typeface="Raleway"/>
              <a:cs typeface="Raleway"/>
              <a:sym typeface="Raleway"/>
            </a:endParaRPr>
          </a:p>
          <a:p>
            <a:pPr indent="-317500" lvl="0" marL="457200" rtl="0" algn="l">
              <a:spcBef>
                <a:spcPts val="1000"/>
              </a:spcBef>
              <a:spcAft>
                <a:spcPts val="0"/>
              </a:spcAft>
              <a:buClr>
                <a:schemeClr val="dk1"/>
              </a:buClr>
              <a:buSzPts val="1400"/>
              <a:buFont typeface="Raleway"/>
              <a:buChar char="➔"/>
            </a:pPr>
            <a:r>
              <a:rPr b="1" lang="es-419" sz="1400">
                <a:solidFill>
                  <a:schemeClr val="dk1"/>
                </a:solidFill>
                <a:latin typeface="Raleway"/>
                <a:ea typeface="Raleway"/>
                <a:cs typeface="Raleway"/>
                <a:sym typeface="Raleway"/>
              </a:rPr>
              <a:t>¿En qué barrio gastan más por cada compra?</a:t>
            </a:r>
            <a:endParaRPr sz="1200">
              <a:latin typeface="Raleway"/>
              <a:ea typeface="Raleway"/>
              <a:cs typeface="Raleway"/>
              <a:sym typeface="Raleway"/>
            </a:endParaRPr>
          </a:p>
          <a:p>
            <a:pPr indent="-298450" lvl="0" marL="457200" rtl="0" algn="l">
              <a:spcBef>
                <a:spcPts val="1000"/>
              </a:spcBef>
              <a:spcAft>
                <a:spcPts val="0"/>
              </a:spcAft>
              <a:buClr>
                <a:schemeClr val="dk1"/>
              </a:buClr>
              <a:buSzPts val="1100"/>
              <a:buFont typeface="Arial"/>
              <a:buChar char="➔"/>
            </a:pPr>
            <a:r>
              <a:rPr b="1" lang="es-419" sz="1400">
                <a:solidFill>
                  <a:schemeClr val="dk1"/>
                </a:solidFill>
                <a:latin typeface="Raleway"/>
                <a:ea typeface="Raleway"/>
                <a:cs typeface="Raleway"/>
                <a:sym typeface="Raleway"/>
              </a:rPr>
              <a:t>¿Cómo nos ayuda el clima a vender más?</a:t>
            </a:r>
            <a:endParaRPr b="1" sz="1400">
              <a:solidFill>
                <a:schemeClr val="dk1"/>
              </a:solidFill>
              <a:latin typeface="Raleway"/>
              <a:ea typeface="Raleway"/>
              <a:cs typeface="Raleway"/>
              <a:sym typeface="Ralew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7"/>
          <p:cNvSpPr txBox="1"/>
          <p:nvPr>
            <p:ph type="title"/>
          </p:nvPr>
        </p:nvSpPr>
        <p:spPr>
          <a:xfrm>
            <a:off x="225625" y="474100"/>
            <a:ext cx="4045200" cy="131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s-419" sz="3100"/>
              <a:t>Dónde están los clientes</a:t>
            </a:r>
            <a:endParaRPr b="0" sz="1900">
              <a:solidFill>
                <a:schemeClr val="dk2"/>
              </a:solidFill>
            </a:endParaRPr>
          </a:p>
        </p:txBody>
      </p:sp>
      <p:pic>
        <p:nvPicPr>
          <p:cNvPr id="100" name="Google Shape;100;p17" title="descarga.png"/>
          <p:cNvPicPr preferRelativeResize="0"/>
          <p:nvPr/>
        </p:nvPicPr>
        <p:blipFill rotWithShape="1">
          <a:blip r:embed="rId3">
            <a:alphaModFix/>
          </a:blip>
          <a:srcRect b="0" l="2488" r="1460" t="0"/>
          <a:stretch/>
        </p:blipFill>
        <p:spPr>
          <a:xfrm>
            <a:off x="3132250" y="0"/>
            <a:ext cx="6011751" cy="5143951"/>
          </a:xfrm>
          <a:prstGeom prst="rect">
            <a:avLst/>
          </a:prstGeom>
          <a:noFill/>
          <a:ln>
            <a:noFill/>
          </a:ln>
        </p:spPr>
      </p:pic>
      <p:sp>
        <p:nvSpPr>
          <p:cNvPr id="101" name="Google Shape;101;p17"/>
          <p:cNvSpPr txBox="1"/>
          <p:nvPr/>
        </p:nvSpPr>
        <p:spPr>
          <a:xfrm>
            <a:off x="356919" y="2019043"/>
            <a:ext cx="2880962" cy="20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es-419" sz="1300">
                <a:solidFill>
                  <a:schemeClr val="dk2"/>
                </a:solidFill>
                <a:latin typeface="Raleway"/>
                <a:ea typeface="Raleway"/>
                <a:cs typeface="Raleway"/>
                <a:sym typeface="Raleway"/>
              </a:rPr>
              <a:t>Al observar el gráfico de barras, se destaca que Palermo y Caballito lideran ampliamente la cantidad de pedidos.</a:t>
            </a:r>
            <a:endParaRPr b="1" sz="1300">
              <a:solidFill>
                <a:schemeClr val="dk2"/>
              </a:solidFill>
              <a:latin typeface="Raleway"/>
              <a:ea typeface="Raleway"/>
              <a:cs typeface="Raleway"/>
              <a:sym typeface="Raleway"/>
            </a:endParaRPr>
          </a:p>
          <a:p>
            <a:pPr indent="0" lvl="0" marL="0" rtl="0" algn="l">
              <a:spcBef>
                <a:spcPts val="800"/>
              </a:spcBef>
              <a:spcAft>
                <a:spcPts val="800"/>
              </a:spcAft>
              <a:buClr>
                <a:schemeClr val="dk2"/>
              </a:buClr>
              <a:buSzPts val="1100"/>
              <a:buFont typeface="Arial"/>
              <a:buNone/>
            </a:pPr>
            <a:r>
              <a:rPr b="1" lang="es-419" sz="1300">
                <a:solidFill>
                  <a:schemeClr val="dk2"/>
                </a:solidFill>
                <a:latin typeface="Raleway"/>
                <a:ea typeface="Raleway"/>
                <a:cs typeface="Raleway"/>
                <a:sym typeface="Raleway"/>
              </a:rPr>
              <a:t>Hallazgo: La demanda no está distribuida de forma equitativa, sino que se concentra en zonas específicas de CABA.</a:t>
            </a:r>
            <a:endParaRPr b="1" sz="1300">
              <a:solidFill>
                <a:schemeClr val="dk2"/>
              </a:solidFill>
              <a:latin typeface="Raleway"/>
              <a:ea typeface="Raleway"/>
              <a:cs typeface="Raleway"/>
              <a:sym typeface="Ralew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5" name="Shape 105"/>
        <p:cNvGrpSpPr/>
        <p:nvPr/>
      </p:nvGrpSpPr>
      <p:grpSpPr>
        <a:xfrm>
          <a:off x="0" y="0"/>
          <a:ext cx="0" cy="0"/>
          <a:chOff x="0" y="0"/>
          <a:chExt cx="0" cy="0"/>
        </a:xfrm>
      </p:grpSpPr>
      <p:pic>
        <p:nvPicPr>
          <p:cNvPr id="106" name="Google Shape;106;p18" title="descarga (1).png"/>
          <p:cNvPicPr preferRelativeResize="0"/>
          <p:nvPr/>
        </p:nvPicPr>
        <p:blipFill rotWithShape="1">
          <a:blip r:embed="rId3">
            <a:alphaModFix/>
          </a:blip>
          <a:srcRect b="0" l="2525" r="0" t="0"/>
          <a:stretch/>
        </p:blipFill>
        <p:spPr>
          <a:xfrm>
            <a:off x="0" y="0"/>
            <a:ext cx="5733300" cy="5143500"/>
          </a:xfrm>
          <a:prstGeom prst="rect">
            <a:avLst/>
          </a:prstGeom>
          <a:noFill/>
          <a:ln>
            <a:noFill/>
          </a:ln>
        </p:spPr>
      </p:pic>
      <p:sp>
        <p:nvSpPr>
          <p:cNvPr id="107" name="Google Shape;107;p18"/>
          <p:cNvSpPr txBox="1"/>
          <p:nvPr>
            <p:ph idx="1" type="body"/>
          </p:nvPr>
        </p:nvSpPr>
        <p:spPr>
          <a:xfrm>
            <a:off x="5681000" y="293100"/>
            <a:ext cx="3389700" cy="432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s-419" sz="3000">
                <a:solidFill>
                  <a:schemeClr val="dk1"/>
                </a:solidFill>
              </a:rPr>
              <a:t>Dónde está la plata</a:t>
            </a:r>
            <a:r>
              <a:rPr lang="es-419" sz="3000">
                <a:solidFill>
                  <a:schemeClr val="dk1"/>
                </a:solidFill>
              </a:rPr>
              <a:t> </a:t>
            </a:r>
            <a:endParaRPr sz="3000">
              <a:solidFill>
                <a:schemeClr val="dk1"/>
              </a:solidFill>
            </a:endParaRPr>
          </a:p>
          <a:p>
            <a:pPr indent="0" lvl="0" marL="0" rtl="0" algn="ctr">
              <a:spcBef>
                <a:spcPts val="1600"/>
              </a:spcBef>
              <a:spcAft>
                <a:spcPts val="1600"/>
              </a:spcAft>
              <a:buClr>
                <a:schemeClr val="dk2"/>
              </a:buClr>
              <a:buSzPts val="1100"/>
              <a:buFont typeface="Arial"/>
              <a:buNone/>
            </a:pPr>
            <a:r>
              <a:rPr b="1" lang="es-419" sz="1700">
                <a:latin typeface="Arial"/>
                <a:ea typeface="Arial"/>
                <a:cs typeface="Arial"/>
                <a:sym typeface="Arial"/>
              </a:rPr>
              <a:t>Caballito gana.</a:t>
            </a:r>
            <a:r>
              <a:rPr lang="es-419" sz="1700">
                <a:latin typeface="Arial"/>
                <a:ea typeface="Arial"/>
                <a:cs typeface="Arial"/>
                <a:sym typeface="Arial"/>
              </a:rPr>
              <a:t> Aunque hay más gente en Palermo, el cliente de Caballito gasta </a:t>
            </a:r>
            <a:r>
              <a:rPr b="1" lang="es-419" sz="1700">
                <a:latin typeface="Arial"/>
                <a:ea typeface="Arial"/>
                <a:cs typeface="Arial"/>
                <a:sym typeface="Arial"/>
              </a:rPr>
              <a:t>$86.000</a:t>
            </a:r>
            <a:r>
              <a:rPr lang="es-419" sz="1700">
                <a:latin typeface="Arial"/>
                <a:ea typeface="Arial"/>
                <a:cs typeface="Arial"/>
                <a:sym typeface="Arial"/>
              </a:rPr>
              <a:t> promedio, un 6% más que el resto</a:t>
            </a:r>
            <a:endParaRPr sz="240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p19"/>
          <p:cNvSpPr txBox="1"/>
          <p:nvPr>
            <p:ph idx="1" type="subTitle"/>
          </p:nvPr>
        </p:nvSpPr>
        <p:spPr>
          <a:xfrm>
            <a:off x="265500" y="653700"/>
            <a:ext cx="4045200" cy="38361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s-419" sz="3000">
                <a:solidFill>
                  <a:schemeClr val="dk1"/>
                </a:solidFill>
              </a:rPr>
              <a:t>El Local "Híbrido"</a:t>
            </a:r>
            <a:endParaRPr b="1" sz="3000">
              <a:solidFill>
                <a:schemeClr val="dk1"/>
              </a:solidFill>
            </a:endParaRPr>
          </a:p>
          <a:p>
            <a:pPr indent="0" lvl="0" marL="0" rtl="0" algn="l">
              <a:lnSpc>
                <a:spcPct val="115000"/>
              </a:lnSpc>
              <a:spcBef>
                <a:spcPts val="1600"/>
              </a:spcBef>
              <a:spcAft>
                <a:spcPts val="0"/>
              </a:spcAft>
              <a:buClr>
                <a:schemeClr val="dk2"/>
              </a:buClr>
              <a:buSzPts val="1100"/>
              <a:buFont typeface="Arial"/>
              <a:buNone/>
            </a:pPr>
            <a:r>
              <a:rPr b="1" lang="es-419" sz="1400">
                <a:latin typeface="Arial"/>
                <a:ea typeface="Arial"/>
                <a:cs typeface="Arial"/>
                <a:sym typeface="Arial"/>
              </a:rPr>
              <a:t>Días de Lluvia = Menos tráfico en local, Más pedidos online.</a:t>
            </a:r>
            <a:endParaRPr b="1" sz="1400">
              <a:latin typeface="Arial"/>
              <a:ea typeface="Arial"/>
              <a:cs typeface="Arial"/>
              <a:sym typeface="Arial"/>
            </a:endParaRPr>
          </a:p>
          <a:p>
            <a:pPr indent="0" lvl="0" marL="0" rtl="0" algn="l">
              <a:lnSpc>
                <a:spcPct val="115000"/>
              </a:lnSpc>
              <a:spcBef>
                <a:spcPts val="1600"/>
              </a:spcBef>
              <a:spcAft>
                <a:spcPts val="0"/>
              </a:spcAft>
              <a:buClr>
                <a:schemeClr val="dk2"/>
              </a:buClr>
              <a:buSzPts val="1100"/>
              <a:buFont typeface="Arial"/>
              <a:buNone/>
            </a:pPr>
            <a:r>
              <a:rPr lang="es-419" sz="1400">
                <a:latin typeface="Arial"/>
                <a:ea typeface="Arial"/>
                <a:cs typeface="Arial"/>
                <a:sym typeface="Arial"/>
              </a:rPr>
              <a:t>El local de Caballito deja de esperar gente y se convierte en centro de despacho rápido para Palermo, Almagro y Flores.</a:t>
            </a:r>
            <a:endParaRPr sz="1400">
              <a:latin typeface="Arial"/>
              <a:ea typeface="Arial"/>
              <a:cs typeface="Arial"/>
              <a:sym typeface="Arial"/>
            </a:endParaRPr>
          </a:p>
          <a:p>
            <a:pPr indent="0" lvl="0" marL="0" rtl="0" algn="l">
              <a:lnSpc>
                <a:spcPct val="115000"/>
              </a:lnSpc>
              <a:spcBef>
                <a:spcPts val="1600"/>
              </a:spcBef>
              <a:spcAft>
                <a:spcPts val="0"/>
              </a:spcAft>
              <a:buClr>
                <a:schemeClr val="dk2"/>
              </a:buClr>
              <a:buSzPts val="1100"/>
              <a:buFont typeface="Arial"/>
              <a:buNone/>
            </a:pPr>
            <a:r>
              <a:rPr b="1" lang="es-419" sz="1400">
                <a:latin typeface="Arial"/>
                <a:ea typeface="Arial"/>
                <a:cs typeface="Arial"/>
                <a:sym typeface="Arial"/>
              </a:rPr>
              <a:t>Resultado:</a:t>
            </a:r>
            <a:r>
              <a:rPr lang="es-419" sz="1400">
                <a:latin typeface="Arial"/>
                <a:ea typeface="Arial"/>
                <a:cs typeface="Arial"/>
                <a:sym typeface="Arial"/>
              </a:rPr>
              <a:t> Reducción drástica del costo de envío y entrega en &lt; 30 min</a:t>
            </a:r>
            <a:endParaRPr sz="1400">
              <a:latin typeface="Arial"/>
              <a:ea typeface="Arial"/>
              <a:cs typeface="Arial"/>
              <a:sym typeface="Arial"/>
            </a:endParaRPr>
          </a:p>
          <a:p>
            <a:pPr indent="0" lvl="0" marL="0" rtl="0" algn="l">
              <a:lnSpc>
                <a:spcPct val="115000"/>
              </a:lnSpc>
              <a:spcBef>
                <a:spcPts val="1600"/>
              </a:spcBef>
              <a:spcAft>
                <a:spcPts val="1600"/>
              </a:spcAft>
              <a:buNone/>
            </a:pPr>
            <a:r>
              <a:t/>
            </a:r>
            <a:endParaRPr sz="1800"/>
          </a:p>
        </p:txBody>
      </p:sp>
      <p:pic>
        <p:nvPicPr>
          <p:cNvPr descr="People walking down street in rain, London, England (proporcionada por Getty Images)" id="113" name="Google Shape;113;p19"/>
          <p:cNvPicPr preferRelativeResize="0"/>
          <p:nvPr/>
        </p:nvPicPr>
        <p:blipFill rotWithShape="1">
          <a:blip r:embed="rId3">
            <a:alphaModFix/>
          </a:blip>
          <a:srcRect b="13175" l="0" r="0" t="13182"/>
          <a:stretch/>
        </p:blipFill>
        <p:spPr>
          <a:xfrm>
            <a:off x="4488725" y="0"/>
            <a:ext cx="4655271" cy="5143506"/>
          </a:xfrm>
          <a:prstGeom prst="rect">
            <a:avLst/>
          </a:prstGeom>
          <a:noFill/>
          <a:ln>
            <a:noFill/>
          </a:ln>
        </p:spPr>
      </p:pic>
      <p:grpSp>
        <p:nvGrpSpPr>
          <p:cNvPr id="114" name="Google Shape;114;p19"/>
          <p:cNvGrpSpPr/>
          <p:nvPr/>
        </p:nvGrpSpPr>
        <p:grpSpPr>
          <a:xfrm>
            <a:off x="6781388" y="2496117"/>
            <a:ext cx="2212050" cy="2504994"/>
            <a:chOff x="6803275" y="427445"/>
            <a:chExt cx="2212050" cy="2504994"/>
          </a:xfrm>
        </p:grpSpPr>
        <p:pic>
          <p:nvPicPr>
            <p:cNvPr id="115" name="Google Shape;115;p19"/>
            <p:cNvPicPr preferRelativeResize="0"/>
            <p:nvPr/>
          </p:nvPicPr>
          <p:blipFill>
            <a:blip r:embed="rId4">
              <a:alphaModFix/>
            </a:blip>
            <a:stretch>
              <a:fillRect/>
            </a:stretch>
          </p:blipFill>
          <p:spPr>
            <a:xfrm>
              <a:off x="6803275" y="427445"/>
              <a:ext cx="2212050" cy="2504994"/>
            </a:xfrm>
            <a:prstGeom prst="rect">
              <a:avLst/>
            </a:prstGeom>
            <a:noFill/>
            <a:ln>
              <a:noFill/>
            </a:ln>
          </p:spPr>
        </p:pic>
        <p:sp>
          <p:nvSpPr>
            <p:cNvPr id="116" name="Google Shape;116;p19"/>
            <p:cNvSpPr txBox="1"/>
            <p:nvPr/>
          </p:nvSpPr>
          <p:spPr>
            <a:xfrm>
              <a:off x="6944800" y="684231"/>
              <a:ext cx="1929000" cy="20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es-419">
                  <a:solidFill>
                    <a:schemeClr val="dk1"/>
                  </a:solidFill>
                  <a:latin typeface="Raleway"/>
                  <a:ea typeface="Raleway"/>
                  <a:cs typeface="Raleway"/>
                  <a:sym typeface="Raleway"/>
                </a:rPr>
                <a:t>El local no solo vende a la calle</a:t>
              </a:r>
              <a:endParaRPr b="1">
                <a:solidFill>
                  <a:schemeClr val="dk1"/>
                </a:solidFill>
                <a:latin typeface="Raleway"/>
                <a:ea typeface="Raleway"/>
                <a:cs typeface="Raleway"/>
                <a:sym typeface="Raleway"/>
              </a:endParaRPr>
            </a:p>
            <a:p>
              <a:pPr indent="0" lvl="0" marL="0" rtl="0" algn="l">
                <a:spcBef>
                  <a:spcPts val="800"/>
                </a:spcBef>
                <a:spcAft>
                  <a:spcPts val="800"/>
                </a:spcAft>
                <a:buNone/>
              </a:pPr>
              <a:r>
                <a:rPr lang="es-419" sz="1200">
                  <a:solidFill>
                    <a:schemeClr val="dk2"/>
                  </a:solidFill>
                  <a:latin typeface="Raleway"/>
                  <a:ea typeface="Raleway"/>
                  <a:cs typeface="Raleway"/>
                  <a:sym typeface="Raleway"/>
                </a:rPr>
                <a:t>Usamos datos climáticos para que, cuando llueva, el local se convierta en un centro de despacho de motos para las zonas cercanas.</a:t>
              </a:r>
              <a:endParaRPr b="1" sz="1200">
                <a:solidFill>
                  <a:schemeClr val="dk1"/>
                </a:solidFill>
                <a:latin typeface="Raleway"/>
                <a:ea typeface="Raleway"/>
                <a:cs typeface="Raleway"/>
                <a:sym typeface="Raleway"/>
              </a:endParaRPr>
            </a:p>
          </p:txBody>
        </p:sp>
      </p:grpSp>
      <p:sp>
        <p:nvSpPr>
          <p:cNvPr id="117" name="Google Shape;117;p19"/>
          <p:cNvSpPr txBox="1"/>
          <p:nvPr/>
        </p:nvSpPr>
        <p:spPr>
          <a:xfrm>
            <a:off x="283100" y="4654975"/>
            <a:ext cx="6244200" cy="257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i="1" lang="es-419" sz="1200">
                <a:solidFill>
                  <a:schemeClr val="lt2"/>
                </a:solidFill>
                <a:latin typeface="Lato"/>
                <a:ea typeface="Lato"/>
                <a:cs typeface="Lato"/>
                <a:sym typeface="Lato"/>
              </a:rPr>
              <a:t>La historia solo tiene fines ilustrativos</a:t>
            </a:r>
            <a:endParaRPr i="1" sz="1200">
              <a:solidFill>
                <a:schemeClr val="lt2"/>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 name="Shape 121"/>
        <p:cNvGrpSpPr/>
        <p:nvPr/>
      </p:nvGrpSpPr>
      <p:grpSpPr>
        <a:xfrm>
          <a:off x="0" y="0"/>
          <a:ext cx="0" cy="0"/>
          <a:chOff x="0" y="0"/>
          <a:chExt cx="0" cy="0"/>
        </a:xfrm>
      </p:grpSpPr>
      <p:pic>
        <p:nvPicPr>
          <p:cNvPr id="122" name="Google Shape;122;p20" title="Gemini_Generated_Image_y4x3vmy4x3vmy4x3.png"/>
          <p:cNvPicPr preferRelativeResize="0"/>
          <p:nvPr/>
        </p:nvPicPr>
        <p:blipFill rotWithShape="1">
          <a:blip r:embed="rId3">
            <a:alphaModFix/>
          </a:blip>
          <a:srcRect b="10981" l="1513" r="1513" t="9616"/>
          <a:stretch/>
        </p:blipFill>
        <p:spPr>
          <a:xfrm>
            <a:off x="2802525" y="0"/>
            <a:ext cx="6341474" cy="5143500"/>
          </a:xfrm>
          <a:prstGeom prst="rect">
            <a:avLst/>
          </a:prstGeom>
          <a:noFill/>
          <a:ln>
            <a:noFill/>
          </a:ln>
        </p:spPr>
      </p:pic>
      <p:sp>
        <p:nvSpPr>
          <p:cNvPr id="123" name="Google Shape;123;p20"/>
          <p:cNvSpPr txBox="1"/>
          <p:nvPr>
            <p:ph idx="4294967295" type="body"/>
          </p:nvPr>
        </p:nvSpPr>
        <p:spPr>
          <a:xfrm>
            <a:off x="256425" y="657925"/>
            <a:ext cx="2546100" cy="40842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b="1" lang="es-419" sz="2800">
                <a:solidFill>
                  <a:schemeClr val="accent5"/>
                </a:solidFill>
              </a:rPr>
              <a:t>El Camino del Dato a la Decisión</a:t>
            </a:r>
            <a:endParaRPr b="1" sz="2800">
              <a:solidFill>
                <a:schemeClr val="accent5"/>
              </a:solidFill>
            </a:endParaRPr>
          </a:p>
          <a:p>
            <a:pPr indent="0" lvl="0" marL="0" rtl="0" algn="l">
              <a:lnSpc>
                <a:spcPct val="100000"/>
              </a:lnSpc>
              <a:spcBef>
                <a:spcPts val="1600"/>
              </a:spcBef>
              <a:spcAft>
                <a:spcPts val="0"/>
              </a:spcAft>
              <a:buClr>
                <a:schemeClr val="dk2"/>
              </a:buClr>
              <a:buSzPts val="1100"/>
              <a:buFont typeface="Arial"/>
              <a:buNone/>
            </a:pPr>
            <a:r>
              <a:rPr b="1" lang="es-419" sz="1200">
                <a:latin typeface="Arial"/>
                <a:ea typeface="Arial"/>
                <a:cs typeface="Arial"/>
                <a:sym typeface="Arial"/>
              </a:rPr>
              <a:t>Vimos el Volumen:</a:t>
            </a:r>
            <a:r>
              <a:rPr lang="es-419" sz="1200">
                <a:latin typeface="Arial"/>
                <a:ea typeface="Arial"/>
                <a:cs typeface="Arial"/>
                <a:sym typeface="Arial"/>
              </a:rPr>
              <a:t> Palermo es masivo, pero su ticket es menor.</a:t>
            </a:r>
            <a:endParaRPr sz="1200">
              <a:latin typeface="Arial"/>
              <a:ea typeface="Arial"/>
              <a:cs typeface="Arial"/>
              <a:sym typeface="Arial"/>
            </a:endParaRPr>
          </a:p>
          <a:p>
            <a:pPr indent="0" lvl="0" marL="0" rtl="0" algn="l">
              <a:lnSpc>
                <a:spcPct val="100000"/>
              </a:lnSpc>
              <a:spcBef>
                <a:spcPts val="1600"/>
              </a:spcBef>
              <a:spcAft>
                <a:spcPts val="0"/>
              </a:spcAft>
              <a:buClr>
                <a:schemeClr val="dk2"/>
              </a:buClr>
              <a:buSzPts val="1100"/>
              <a:buFont typeface="Arial"/>
              <a:buNone/>
            </a:pPr>
            <a:r>
              <a:rPr b="1" lang="es-419" sz="1200">
                <a:latin typeface="Arial"/>
                <a:ea typeface="Arial"/>
                <a:cs typeface="Arial"/>
                <a:sym typeface="Arial"/>
              </a:rPr>
              <a:t>Vimos el Valor:</a:t>
            </a:r>
            <a:r>
              <a:rPr lang="es-419" sz="1200">
                <a:latin typeface="Arial"/>
                <a:ea typeface="Arial"/>
                <a:cs typeface="Arial"/>
                <a:sym typeface="Arial"/>
              </a:rPr>
              <a:t> Caballito tiene menos gente, pero gasta mucho más.</a:t>
            </a:r>
            <a:endParaRPr sz="1200">
              <a:latin typeface="Arial"/>
              <a:ea typeface="Arial"/>
              <a:cs typeface="Arial"/>
              <a:sym typeface="Arial"/>
            </a:endParaRPr>
          </a:p>
          <a:p>
            <a:pPr indent="0" lvl="0" marL="0" rtl="0" algn="l">
              <a:lnSpc>
                <a:spcPct val="100000"/>
              </a:lnSpc>
              <a:spcBef>
                <a:spcPts val="1600"/>
              </a:spcBef>
              <a:spcAft>
                <a:spcPts val="0"/>
              </a:spcAft>
              <a:buClr>
                <a:schemeClr val="dk2"/>
              </a:buClr>
              <a:buSzPts val="1100"/>
              <a:buFont typeface="Arial"/>
              <a:buNone/>
            </a:pPr>
            <a:r>
              <a:rPr b="1" lang="es-419" sz="1200">
                <a:latin typeface="Arial"/>
                <a:ea typeface="Arial"/>
                <a:cs typeface="Arial"/>
                <a:sym typeface="Arial"/>
              </a:rPr>
              <a:t>Vimos el Entorno:</a:t>
            </a:r>
            <a:r>
              <a:rPr lang="es-419" sz="1200">
                <a:latin typeface="Arial"/>
                <a:ea typeface="Arial"/>
                <a:cs typeface="Arial"/>
                <a:sym typeface="Arial"/>
              </a:rPr>
              <a:t> La tecnología nos permite cubrir Palermo rápidamente desde Caballito cuando el clima es adverso.</a:t>
            </a:r>
            <a:endParaRPr sz="1200">
              <a:latin typeface="Arial"/>
              <a:ea typeface="Arial"/>
              <a:cs typeface="Arial"/>
              <a:sym typeface="Arial"/>
            </a:endParaRPr>
          </a:p>
          <a:p>
            <a:pPr indent="0" lvl="0" marL="0" rtl="0" algn="l">
              <a:lnSpc>
                <a:spcPct val="100000"/>
              </a:lnSpc>
              <a:spcBef>
                <a:spcPts val="1600"/>
              </a:spcBef>
              <a:spcAft>
                <a:spcPts val="0"/>
              </a:spcAft>
              <a:buClr>
                <a:schemeClr val="dk2"/>
              </a:buClr>
              <a:buSzPts val="1100"/>
              <a:buFont typeface="Arial"/>
              <a:buNone/>
            </a:pPr>
            <a:r>
              <a:rPr b="1" lang="es-419" sz="1200">
                <a:latin typeface="Arial"/>
                <a:ea typeface="Arial"/>
                <a:cs typeface="Arial"/>
                <a:sym typeface="Arial"/>
              </a:rPr>
              <a:t>La Decisión:</a:t>
            </a:r>
            <a:r>
              <a:rPr lang="es-419" sz="1200">
                <a:latin typeface="Arial"/>
                <a:ea typeface="Arial"/>
                <a:cs typeface="Arial"/>
                <a:sym typeface="Arial"/>
              </a:rPr>
              <a:t> Invertir en Caballito maximiza la rentabilidad desde el primer día.</a:t>
            </a:r>
            <a:endParaRPr sz="1200">
              <a:latin typeface="Arial"/>
              <a:ea typeface="Arial"/>
              <a:cs typeface="Arial"/>
              <a:sym typeface="Arial"/>
            </a:endParaRPr>
          </a:p>
          <a:p>
            <a:pPr indent="0" lvl="0" marL="0" rtl="0" algn="l">
              <a:lnSpc>
                <a:spcPct val="100000"/>
              </a:lnSpc>
              <a:spcBef>
                <a:spcPts val="1600"/>
              </a:spcBef>
              <a:spcAft>
                <a:spcPts val="1600"/>
              </a:spcAft>
              <a:buNone/>
            </a:pPr>
            <a:r>
              <a:t/>
            </a:r>
            <a:endParaRPr>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descr="Man signs bank mortgage hypothec for real property house buying and employee explains terms of loan credit, top view of desk with people hands and paper documents. Vector illustration. (proporcionada por Getty Images)" id="128" name="Google Shape;128;p21"/>
          <p:cNvPicPr preferRelativeResize="0"/>
          <p:nvPr/>
        </p:nvPicPr>
        <p:blipFill rotWithShape="1">
          <a:blip r:embed="rId3">
            <a:alphaModFix/>
          </a:blip>
          <a:srcRect b="18832" l="0" r="0" t="18832"/>
          <a:stretch/>
        </p:blipFill>
        <p:spPr>
          <a:xfrm>
            <a:off x="0" y="0"/>
            <a:ext cx="9144003" cy="5143501"/>
          </a:xfrm>
          <a:prstGeom prst="rect">
            <a:avLst/>
          </a:prstGeom>
          <a:noFill/>
          <a:ln>
            <a:noFill/>
          </a:ln>
        </p:spPr>
      </p:pic>
      <p:sp>
        <p:nvSpPr>
          <p:cNvPr id="129" name="Google Shape;129;p21"/>
          <p:cNvSpPr txBox="1"/>
          <p:nvPr>
            <p:ph type="title"/>
          </p:nvPr>
        </p:nvSpPr>
        <p:spPr>
          <a:xfrm>
            <a:off x="283100" y="712150"/>
            <a:ext cx="6390600" cy="3835500"/>
          </a:xfrm>
          <a:prstGeom prst="rect">
            <a:avLst/>
          </a:prstGeom>
          <a:solidFill>
            <a:srgbClr val="000000">
              <a:alpha val="76920"/>
            </a:srgbClr>
          </a:solidFill>
        </p:spPr>
        <p:txBody>
          <a:bodyPr anchorCtr="0" anchor="t" bIns="91425" lIns="91425" spcFirstLastPara="1" rIns="91425" wrap="square" tIns="91425">
            <a:noAutofit/>
          </a:bodyPr>
          <a:lstStyle/>
          <a:p>
            <a:pPr indent="0" lvl="0" marL="0" rtl="0" algn="l">
              <a:spcBef>
                <a:spcPts val="0"/>
              </a:spcBef>
              <a:spcAft>
                <a:spcPts val="0"/>
              </a:spcAft>
              <a:buNone/>
            </a:pPr>
            <a:r>
              <a:rPr lang="es-419" sz="3200">
                <a:solidFill>
                  <a:schemeClr val="accent5"/>
                </a:solidFill>
              </a:rPr>
              <a:t>Conclusión y Recomendación Final</a:t>
            </a:r>
            <a:endParaRPr sz="3200">
              <a:solidFill>
                <a:schemeClr val="accent5"/>
              </a:solidFill>
            </a:endParaRPr>
          </a:p>
          <a:p>
            <a:pPr indent="0" lvl="0" marL="0" rtl="0" algn="l">
              <a:spcBef>
                <a:spcPts val="1000"/>
              </a:spcBef>
              <a:spcAft>
                <a:spcPts val="0"/>
              </a:spcAft>
              <a:buClr>
                <a:schemeClr val="dk2"/>
              </a:buClr>
              <a:buSzPts val="1100"/>
              <a:buFont typeface="Arial"/>
              <a:buNone/>
            </a:pPr>
            <a:r>
              <a:rPr lang="es-419" sz="1700">
                <a:latin typeface="Arial"/>
                <a:ea typeface="Arial"/>
                <a:cs typeface="Arial"/>
                <a:sym typeface="Arial"/>
              </a:rPr>
              <a:t>Inversión Segura:</a:t>
            </a:r>
            <a:r>
              <a:rPr b="0" lang="es-419" sz="1700">
                <a:latin typeface="Arial"/>
                <a:ea typeface="Arial"/>
                <a:cs typeface="Arial"/>
                <a:sym typeface="Arial"/>
              </a:rPr>
              <a:t> Caballito minimiza el riesgo al capitalizar una base de clientes de alto valor.</a:t>
            </a:r>
            <a:endParaRPr b="0" sz="1700">
              <a:latin typeface="Arial"/>
              <a:ea typeface="Arial"/>
              <a:cs typeface="Arial"/>
              <a:sym typeface="Arial"/>
            </a:endParaRPr>
          </a:p>
          <a:p>
            <a:pPr indent="0" lvl="0" marL="0" rtl="0" algn="l">
              <a:spcBef>
                <a:spcPts val="1000"/>
              </a:spcBef>
              <a:spcAft>
                <a:spcPts val="0"/>
              </a:spcAft>
              <a:buClr>
                <a:schemeClr val="dk2"/>
              </a:buClr>
              <a:buSzPts val="1100"/>
              <a:buFont typeface="Arial"/>
              <a:buNone/>
            </a:pPr>
            <a:r>
              <a:rPr lang="es-419" sz="1700">
                <a:latin typeface="Arial"/>
                <a:ea typeface="Arial"/>
                <a:cs typeface="Arial"/>
                <a:sym typeface="Arial"/>
              </a:rPr>
              <a:t>Próximos Pasos:</a:t>
            </a:r>
            <a:endParaRPr sz="1700">
              <a:latin typeface="Arial"/>
              <a:ea typeface="Arial"/>
              <a:cs typeface="Arial"/>
              <a:sym typeface="Arial"/>
            </a:endParaRPr>
          </a:p>
          <a:p>
            <a:pPr indent="-336550" lvl="0" marL="457200" rtl="0" algn="l">
              <a:lnSpc>
                <a:spcPct val="115000"/>
              </a:lnSpc>
              <a:spcBef>
                <a:spcPts val="1200"/>
              </a:spcBef>
              <a:spcAft>
                <a:spcPts val="0"/>
              </a:spcAft>
              <a:buClr>
                <a:schemeClr val="lt1"/>
              </a:buClr>
              <a:buSzPts val="1700"/>
              <a:buFont typeface="Arial"/>
              <a:buAutoNum type="arabicPeriod"/>
            </a:pPr>
            <a:r>
              <a:rPr b="0" lang="es-419" sz="1700">
                <a:latin typeface="Arial"/>
                <a:ea typeface="Arial"/>
                <a:cs typeface="Arial"/>
                <a:sym typeface="Arial"/>
              </a:rPr>
              <a:t>Búsqueda de local comercial en radio céntrico de Caballito.</a:t>
            </a:r>
            <a:endParaRPr b="0" sz="1700">
              <a:latin typeface="Arial"/>
              <a:ea typeface="Arial"/>
              <a:cs typeface="Arial"/>
              <a:sym typeface="Arial"/>
            </a:endParaRPr>
          </a:p>
          <a:p>
            <a:pPr indent="-336550" lvl="0" marL="457200" rtl="0" algn="l">
              <a:lnSpc>
                <a:spcPct val="115000"/>
              </a:lnSpc>
              <a:spcBef>
                <a:spcPts val="0"/>
              </a:spcBef>
              <a:spcAft>
                <a:spcPts val="0"/>
              </a:spcAft>
              <a:buClr>
                <a:schemeClr val="lt1"/>
              </a:buClr>
              <a:buSzPts val="1700"/>
              <a:buFont typeface="Arial"/>
              <a:buAutoNum type="arabicPeriod"/>
            </a:pPr>
            <a:r>
              <a:rPr b="0" lang="es-419" sz="1700">
                <a:latin typeface="Arial"/>
                <a:ea typeface="Arial"/>
                <a:cs typeface="Arial"/>
                <a:sym typeface="Arial"/>
              </a:rPr>
              <a:t>Configuración de plataforma logística basada en la API de clima.</a:t>
            </a:r>
            <a:endParaRPr b="0" sz="1700">
              <a:latin typeface="Arial"/>
              <a:ea typeface="Arial"/>
              <a:cs typeface="Arial"/>
              <a:sym typeface="Arial"/>
            </a:endParaRPr>
          </a:p>
          <a:p>
            <a:pPr indent="-336550" lvl="0" marL="457200" rtl="0" algn="l">
              <a:lnSpc>
                <a:spcPct val="115000"/>
              </a:lnSpc>
              <a:spcBef>
                <a:spcPts val="0"/>
              </a:spcBef>
              <a:spcAft>
                <a:spcPts val="0"/>
              </a:spcAft>
              <a:buClr>
                <a:schemeClr val="lt1"/>
              </a:buClr>
              <a:buSzPts val="1700"/>
              <a:buFont typeface="Arial"/>
              <a:buAutoNum type="arabicPeriod"/>
            </a:pPr>
            <a:r>
              <a:rPr b="0" lang="es-419" sz="1700">
                <a:latin typeface="Arial"/>
                <a:ea typeface="Arial"/>
                <a:cs typeface="Arial"/>
                <a:sym typeface="Arial"/>
              </a:rPr>
              <a:t>Campaña de marketing focalizada para el lanzamiento.</a:t>
            </a:r>
            <a:endParaRPr b="0" sz="1700">
              <a:latin typeface="Arial"/>
              <a:ea typeface="Arial"/>
              <a:cs typeface="Arial"/>
              <a:sym typeface="Arial"/>
            </a:endParaRPr>
          </a:p>
          <a:p>
            <a:pPr indent="0" lvl="0" marL="0" rtl="0" algn="l">
              <a:spcBef>
                <a:spcPts val="1200"/>
              </a:spcBef>
              <a:spcAft>
                <a:spcPts val="0"/>
              </a:spcAft>
              <a:buNone/>
            </a:pPr>
            <a:r>
              <a:t/>
            </a:r>
            <a:endParaRPr b="0" sz="2100"/>
          </a:p>
          <a:p>
            <a:pPr indent="0" lvl="0" marL="0" rtl="0" algn="l">
              <a:spcBef>
                <a:spcPts val="1000"/>
              </a:spcBef>
              <a:spcAft>
                <a:spcPts val="0"/>
              </a:spcAft>
              <a:buNone/>
            </a:pPr>
            <a:r>
              <a:t/>
            </a:r>
            <a:endParaRPr sz="2100"/>
          </a:p>
          <a:p>
            <a:pPr indent="0" lvl="0" marL="0" rtl="0" algn="l">
              <a:lnSpc>
                <a:spcPct val="115000"/>
              </a:lnSpc>
              <a:spcBef>
                <a:spcPts val="1000"/>
              </a:spcBef>
              <a:spcAft>
                <a:spcPts val="1000"/>
              </a:spcAft>
              <a:buNone/>
            </a:pPr>
            <a:r>
              <a:rPr b="0" lang="es-419" sz="1600">
                <a:latin typeface="Lato"/>
                <a:ea typeface="Lato"/>
                <a:cs typeface="Lato"/>
                <a:sym typeface="Lato"/>
              </a:rPr>
              <a:t>Miremos un breve video sobre la historia de Alberto</a:t>
            </a:r>
            <a:endParaRPr sz="2400" u="sng">
              <a:solidFill>
                <a:schemeClr val="accent5"/>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